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9" r:id="rId1"/>
  </p:sldMasterIdLst>
  <p:sldIdLst>
    <p:sldId id="256" r:id="rId2"/>
    <p:sldId id="257" r:id="rId3"/>
    <p:sldId id="273" r:id="rId4"/>
    <p:sldId id="260" r:id="rId5"/>
    <p:sldId id="263" r:id="rId6"/>
    <p:sldId id="264" r:id="rId7"/>
    <p:sldId id="265" r:id="rId8"/>
    <p:sldId id="266" r:id="rId9"/>
    <p:sldId id="267" r:id="rId10"/>
    <p:sldId id="269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B8BF"/>
    <a:srgbClr val="1E202C"/>
    <a:srgbClr val="123BA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9104" autoAdjust="0"/>
  </p:normalViewPr>
  <p:slideViewPr>
    <p:cSldViewPr snapToGrid="0">
      <p:cViewPr>
        <p:scale>
          <a:sx n="90" d="100"/>
          <a:sy n="90" d="100"/>
        </p:scale>
        <p:origin x="30" y="4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0975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8662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5589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9975098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9199471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974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4094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1543988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491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879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703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0585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042918"/>
            <a:ext cx="12192000" cy="1540482"/>
          </a:xfrm>
          <a:solidFill>
            <a:srgbClr val="E7B8BF"/>
          </a:solidFill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ВЫПУСКНАЯ КВАЛИФИКАЦИОННАЯ РАБОТА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 smtClean="0">
                <a:solidFill>
                  <a:srgbClr val="002060"/>
                </a:solidFill>
              </a:rPr>
              <a:t>Тема: </a:t>
            </a:r>
            <a:r>
              <a:rPr lang="ru-RU" b="1" dirty="0" smtClean="0"/>
              <a:t>Разработка автоматизированной информационной системы магазина офисной мебели на </a:t>
            </a:r>
            <a:r>
              <a:rPr lang="ru-RU" b="1" dirty="0"/>
              <a:t>базе платформы .NET</a:t>
            </a:r>
            <a:r>
              <a:rPr lang="ru-RU" b="1" dirty="0" smtClean="0"/>
              <a:t>.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образования и науки Нижегородской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66425014"/>
              </p:ext>
            </p:extLst>
          </p:nvPr>
        </p:nvGraphicFramePr>
        <p:xfrm>
          <a:off x="858541" y="5083049"/>
          <a:ext cx="1072341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:a16="http://schemas.microsoft.com/office/drawing/2014/main" xmlns="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:a16="http://schemas.microsoft.com/office/drawing/2014/main" xmlns="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Выполнила: </a:t>
                      </a:r>
                      <a:r>
                        <a:rPr lang="ru-RU" baseline="0" dirty="0" smtClean="0"/>
                        <a:t>Трифонова Инна Андреевна</a:t>
                      </a:r>
                      <a:endParaRPr lang="ru-RU" dirty="0" smtClean="0"/>
                    </a:p>
                    <a:p>
                      <a:pPr algn="l"/>
                      <a:r>
                        <a:rPr lang="ru-RU" baseline="0" dirty="0" smtClean="0"/>
                        <a:t>                       Студентка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Руководитель</a:t>
                      </a:r>
                      <a:r>
                        <a:rPr lang="ru-RU" dirty="0" smtClean="0"/>
                        <a:t>: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err="1" smtClean="0"/>
                        <a:t>Карпушева</a:t>
                      </a:r>
                      <a:r>
                        <a:rPr lang="ru-RU" baseline="0" dirty="0" smtClean="0"/>
                        <a:t>  Ирина Александровна преподаватель</a:t>
                      </a:r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2026</a:t>
            </a:r>
            <a:endParaRPr lang="ru-RU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9053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E7B8BF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Актуальность темы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2450" y="1446662"/>
            <a:ext cx="11087100" cy="4013200"/>
          </a:xfrm>
        </p:spPr>
        <p:txBody>
          <a:bodyPr>
            <a:noAutofit/>
          </a:bodyPr>
          <a:lstStyle/>
          <a:p>
            <a:pPr marL="0" indent="54000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современном деловом мире, в условиях высокой конкуренции и требовательности клиентов, эффективное управление товарными потоками, запасами и клиентскими отношениями становится критически важным фактором успеха и прибыльности. Розничная торговля, в особенности специализированные сегменты, такие как продажа офисной мебели, сталкивается с комплексом управленческих задач: необходимостью оперативного контроля обширного и часто обновляемого ассортимента, управления остатками на складе, обработки индивидуальных и корпоративных заказов, ведения клиентской базы, а также анализа продаж и маркетинговой эффективности.</a:t>
            </a:r>
          </a:p>
          <a:p>
            <a:pPr marL="0" indent="54000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 сегодняшний день конкурентоспособная работа магазина немыслима без применения специализированных программных решений, которые интегрируют ключевые бизнес-процессы в единую информационную среду</a:t>
            </a:r>
            <a:endParaRPr lang="ru-RU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5011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E7B8BF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Постановка задачи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40242" y="1265274"/>
            <a:ext cx="10728251" cy="4745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>
              <a:lnSpc>
                <a:spcPct val="120000"/>
              </a:lnSpc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выпускной квалификационной работы заключается в разработке информационной системы по ведению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базы</a:t>
            </a:r>
            <a:r>
              <a:rPr lang="ru-RU" dirty="0" smtClean="0"/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магазина офисной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мебели.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магазина должна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обладать следующими особенностями:</a:t>
            </a:r>
          </a:p>
          <a:p>
            <a:pPr indent="540000" algn="just">
              <a:lnSpc>
                <a:spcPct val="120000"/>
              </a:lnSpc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продуманный интерфейс в соответствии с поставленной задачей; </a:t>
            </a:r>
          </a:p>
          <a:p>
            <a:pPr indent="540000" algn="just">
              <a:lnSpc>
                <a:spcPct val="120000"/>
              </a:lnSpc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форму авторизации;</a:t>
            </a:r>
          </a:p>
          <a:p>
            <a:pPr indent="540000" algn="just">
              <a:lnSpc>
                <a:spcPct val="120000"/>
              </a:lnSpc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главную кнопочную форму (добавить данные, изменить данные, запросы, отчеты, выход);</a:t>
            </a:r>
          </a:p>
          <a:p>
            <a:pPr indent="540000" algn="just">
              <a:lnSpc>
                <a:spcPct val="120000"/>
              </a:lnSpc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-иметь возможность ведения и редактирования базы данных (добавление, удаление, редактирование, сохранение);</a:t>
            </a:r>
          </a:p>
          <a:p>
            <a:pPr indent="540000" algn="just">
              <a:lnSpc>
                <a:spcPct val="120000"/>
              </a:lnSpc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ведения учета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товаров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заказов;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540000" algn="just">
              <a:lnSpc>
                <a:spcPct val="120000"/>
              </a:lnSpc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резервного копирования БД;</a:t>
            </a:r>
          </a:p>
          <a:p>
            <a:pPr indent="540000" algn="just">
              <a:lnSpc>
                <a:spcPct val="120000"/>
              </a:lnSpc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динамического поиска записей базы данных (по наименованию и номеру);</a:t>
            </a:r>
          </a:p>
          <a:p>
            <a:pPr indent="540000" algn="just">
              <a:lnSpc>
                <a:spcPct val="120000"/>
              </a:lnSpc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составления документов по запросу пользователя; </a:t>
            </a:r>
          </a:p>
          <a:p>
            <a:pPr indent="540000" algn="just">
              <a:lnSpc>
                <a:spcPct val="120000"/>
              </a:lnSpc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-иметь условное форматирование данных в таблицах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540000" algn="just">
              <a:lnSpc>
                <a:spcPct val="120000"/>
              </a:lnSpc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 С#. База данных составляется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5011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 descr="Typescript_logo_2020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733" y="4563534"/>
            <a:ext cx="1278468" cy="1278468"/>
          </a:xfrm>
          <a:prstGeom prst="rect">
            <a:avLst/>
          </a:prstGeom>
        </p:spPr>
      </p:pic>
      <p:pic>
        <p:nvPicPr>
          <p:cNvPr id="21" name="Рисунок 20" descr="Java_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666" y="4304877"/>
            <a:ext cx="934297" cy="1738992"/>
          </a:xfrm>
          <a:prstGeom prst="rect">
            <a:avLst/>
          </a:prstGeom>
        </p:spPr>
      </p:pic>
      <p:pic>
        <p:nvPicPr>
          <p:cNvPr id="20" name="Рисунок 19" descr="1768.sql_logo-768x46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600" y="4573037"/>
            <a:ext cx="2565400" cy="1539908"/>
          </a:xfrm>
          <a:prstGeom prst="rect">
            <a:avLst/>
          </a:prstGeom>
        </p:spPr>
      </p:pic>
      <p:pic>
        <p:nvPicPr>
          <p:cNvPr id="18" name="Рисунок 17" descr="mariadb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8134" y="4986866"/>
            <a:ext cx="2260781" cy="1163637"/>
          </a:xfrm>
          <a:prstGeom prst="rect">
            <a:avLst/>
          </a:prstGeom>
        </p:spPr>
      </p:pic>
      <p:pic>
        <p:nvPicPr>
          <p:cNvPr id="17" name="Рисунок 16" descr="rid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2200" y="2032000"/>
            <a:ext cx="1473199" cy="1473199"/>
          </a:xfrm>
          <a:prstGeom prst="rect">
            <a:avLst/>
          </a:prstGeom>
        </p:spPr>
      </p:pic>
      <p:pic>
        <p:nvPicPr>
          <p:cNvPr id="16" name="Рисунок 15" descr="IntelliJ_IDEA_Icon.sv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5800" y="2006600"/>
            <a:ext cx="1490134" cy="1490134"/>
          </a:xfrm>
          <a:prstGeom prst="rect">
            <a:avLst/>
          </a:prstGeom>
        </p:spPr>
      </p:pic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254000"/>
            <a:ext cx="12192000" cy="955675"/>
          </a:xfrm>
          <a:solidFill>
            <a:srgbClr val="E7B8BF"/>
          </a:solidFill>
        </p:spPr>
        <p:txBody>
          <a:bodyPr>
            <a:normAutofit fontScale="90000"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Обоснование выбора среды разработки и </a:t>
            </a:r>
            <a:r>
              <a:rPr lang="ru-RU" sz="4000" dirty="0">
                <a:solidFill>
                  <a:schemeClr val="bg1"/>
                </a:solidFill>
              </a:rPr>
              <a:t>способа организации входных и выходных данных</a:t>
            </a:r>
          </a:p>
        </p:txBody>
      </p:sp>
      <p:pic>
        <p:nvPicPr>
          <p:cNvPr id="1026" name="Picture 2" descr="https://miro.medium.com/max/1200/1*sXIXxTtZPaylbQMgsbI4GA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32716" y="1729328"/>
            <a:ext cx="3624133" cy="17063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miro.medium.com/max/1200/1*w0u2TZpEp3WfKMrlL5jTSw.png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2585" t="20641" r="25489" b="15409"/>
          <a:stretch/>
        </p:blipFill>
        <p:spPr bwMode="auto">
          <a:xfrm>
            <a:off x="1805330" y="3892838"/>
            <a:ext cx="2236641" cy="25203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2" descr="https://24x7servermanagement.com/wp-content/uploads/2016/09/mysql-logo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14589" y="4335444"/>
            <a:ext cx="3269524" cy="17848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71770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E7B8BF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Структура БД – </a:t>
            </a:r>
            <a:r>
              <a:rPr lang="en-US" sz="4000" dirty="0" smtClean="0">
                <a:solidFill>
                  <a:schemeClr val="bg1"/>
                </a:solidFill>
              </a:rPr>
              <a:t>E</a:t>
            </a:r>
            <a:r>
              <a:rPr lang="en-US" sz="4000" dirty="0">
                <a:solidFill>
                  <a:schemeClr val="bg1"/>
                </a:solidFill>
              </a:rPr>
              <a:t>R</a:t>
            </a:r>
            <a:r>
              <a:rPr lang="ru-RU" sz="4000" dirty="0" smtClean="0">
                <a:solidFill>
                  <a:schemeClr val="bg1"/>
                </a:solidFill>
              </a:rPr>
              <a:t>-диаграмма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5" name="Рисунок 4" descr="er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846" y="1412247"/>
            <a:ext cx="9134475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12540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E7B8BF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Программные модули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7142" y="1586799"/>
            <a:ext cx="1685925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297712" y="1244010"/>
            <a:ext cx="1818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Авторизация</a:t>
            </a:r>
            <a:endParaRPr lang="ru-R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7102" y="1596767"/>
            <a:ext cx="280987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573079" y="1254642"/>
            <a:ext cx="2536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Форма администратора</a:t>
            </a:r>
            <a:endParaRPr lang="ru-RU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61161" y="1615262"/>
            <a:ext cx="3771900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5624623" y="1265274"/>
            <a:ext cx="2087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Форма добавления</a:t>
            </a:r>
            <a:endParaRPr lang="ru-RU" dirty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35477" y="4605229"/>
            <a:ext cx="3952899" cy="2093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287080" y="4199860"/>
            <a:ext cx="2652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Форма редактирования</a:t>
            </a:r>
            <a:endParaRPr lang="ru-RU" dirty="0"/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715873" y="4471914"/>
            <a:ext cx="33147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4837814" y="4082902"/>
            <a:ext cx="1681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Управление БД</a:t>
            </a:r>
            <a:endParaRPr lang="ru-RU" dirty="0"/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341685" y="3959115"/>
            <a:ext cx="3311599" cy="2336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9282223" y="3646967"/>
            <a:ext cx="219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Форма поставщики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585857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E7B8BF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Программные модули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6447" y="1780769"/>
            <a:ext cx="3976576" cy="2071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233916" y="1329070"/>
            <a:ext cx="2008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Форма Заказы</a:t>
            </a:r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69046" y="1708336"/>
            <a:ext cx="2584377" cy="1635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4859079" y="1339702"/>
            <a:ext cx="2405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Отчет по выручке</a:t>
            </a:r>
            <a:endParaRPr lang="ru-RU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16679" y="1506538"/>
            <a:ext cx="2818469" cy="2097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8442252" y="1212112"/>
            <a:ext cx="1852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Состав заказа</a:t>
            </a:r>
            <a:endParaRPr lang="ru-RU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06308" y="3832739"/>
            <a:ext cx="3953429" cy="2142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4401879" y="3444949"/>
            <a:ext cx="1836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Форма товары</a:t>
            </a:r>
            <a:endParaRPr lang="ru-RU" dirty="0"/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53903" y="4257712"/>
            <a:ext cx="2591854" cy="1749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648587" y="3944679"/>
            <a:ext cx="2870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Добавление товара</a:t>
            </a:r>
            <a:endParaRPr lang="ru-RU" dirty="0"/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621343" y="3951915"/>
            <a:ext cx="3051323" cy="2034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8569842" y="3636335"/>
            <a:ext cx="2737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Форма редактирования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288615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E7B8BF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Применяемые меры защиты</a:t>
            </a:r>
            <a:endParaRPr lang="ru-RU" sz="4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77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E7B8BF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Обоснование экономической эффективности</a:t>
            </a:r>
            <a:endParaRPr lang="ru-RU" sz="4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54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E7B8BF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Применяемые меры защиты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1203110"/>
            <a:ext cx="3009029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  <a:tabLst>
                <a:tab pos="450215" algn="l"/>
                <a:tab pos="900430" algn="l"/>
                <a:tab pos="9906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Разграничение прав доступа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044465" y="1284790"/>
            <a:ext cx="3243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Скрытие пароля при его вводе 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430992" y="2787291"/>
            <a:ext cx="47148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Блокировка некорректного ввода данных или некорректных действий пользователя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6302015" y="1227640"/>
            <a:ext cx="36280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Проверка на обязательность полей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0" y="4761415"/>
            <a:ext cx="56201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неудачной попытке авторизации </a:t>
            </a: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система выдает сообщение о неудавшейся авторизации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51" y="5476875"/>
            <a:ext cx="1866900" cy="1226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47926" y="5464175"/>
            <a:ext cx="2800350" cy="1254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Прямоугольник 25"/>
          <p:cNvSpPr/>
          <p:nvPr/>
        </p:nvSpPr>
        <p:spPr>
          <a:xfrm>
            <a:off x="6257925" y="3946166"/>
            <a:ext cx="4305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повторной авторизации требуется заполнение полей логина и пароля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27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715501" y="2695575"/>
            <a:ext cx="2209800" cy="1250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Прямоугольник 30"/>
          <p:cNvSpPr/>
          <p:nvPr/>
        </p:nvSpPr>
        <p:spPr>
          <a:xfrm>
            <a:off x="9382125" y="1803041"/>
            <a:ext cx="28098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Выход из программы </a:t>
            </a: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осуществляется с формы </a:t>
            </a: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авторизации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4134" y="1701800"/>
            <a:ext cx="1888066" cy="1525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/>
          <a:srcRect t="64344" r="-1323" b="22468"/>
          <a:stretch>
            <a:fillRect/>
          </a:stretch>
        </p:blipFill>
        <p:spPr bwMode="auto">
          <a:xfrm>
            <a:off x="3149602" y="1727201"/>
            <a:ext cx="2870200" cy="494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7"/>
          <a:srcRect t="29668" r="20232" b="43472"/>
          <a:stretch>
            <a:fillRect/>
          </a:stretch>
        </p:blipFill>
        <p:spPr bwMode="auto">
          <a:xfrm>
            <a:off x="6604000" y="1608667"/>
            <a:ext cx="2929467" cy="1042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8"/>
          <a:srcRect t="50754" r="921" b="23785"/>
          <a:stretch>
            <a:fillRect/>
          </a:stretch>
        </p:blipFill>
        <p:spPr bwMode="auto">
          <a:xfrm>
            <a:off x="3124200" y="3471334"/>
            <a:ext cx="2844800" cy="96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9"/>
          <a:srcRect t="50660" r="-14" b="22437"/>
          <a:stretch>
            <a:fillRect/>
          </a:stretch>
        </p:blipFill>
        <p:spPr bwMode="auto">
          <a:xfrm>
            <a:off x="7213600" y="4597399"/>
            <a:ext cx="2777067" cy="98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838169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90575" y="1519706"/>
            <a:ext cx="107061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ходе выполнения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дипломного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проекта была создана автоматизированная информационная система по ведению базы магазина офисной мебели на базе платформы 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отвечающая поставленным требованиям.</a:t>
            </a:r>
            <a:endParaRPr lang="ru-RU" sz="2000" dirty="0" smtClean="0"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E7B8BF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Заключение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81051" y="3185484"/>
            <a:ext cx="107061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Созданный программный продукт полностью удовлетворяет поставленным задачам.</a:t>
            </a:r>
          </a:p>
          <a:p>
            <a:pPr indent="540385" algn="just">
              <a:lnSpc>
                <a:spcPct val="150000"/>
              </a:lnSpc>
              <a:spcAft>
                <a:spcPts val="0"/>
              </a:spcAft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91117" y="3774558"/>
            <a:ext cx="1005840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50000"/>
              </a:lnSpc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Перспективы развития программы заключаются в усовершенствовании её функций, например: возможность добавления в базу данных документов и возможность представления программы в универсальном виде.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226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rgbClr val="E7B8BF"/>
          </a:solidFill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ДИПЛОМНЫЙ ПРОЕКТ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 smtClean="0">
                <a:solidFill>
                  <a:srgbClr val="002060"/>
                </a:solidFill>
              </a:rPr>
              <a:t>Тема: </a:t>
            </a:r>
            <a:r>
              <a:rPr lang="ru-RU" b="1" dirty="0" smtClean="0"/>
              <a:t>Разработка автоматизированной информационной системы магазина офисной мебели на базе платформы .NET.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образования и науки Нижегородской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66425014"/>
              </p:ext>
            </p:extLst>
          </p:nvPr>
        </p:nvGraphicFramePr>
        <p:xfrm>
          <a:off x="858541" y="5083049"/>
          <a:ext cx="1072341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:a16="http://schemas.microsoft.com/office/drawing/2014/main" xmlns="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:a16="http://schemas.microsoft.com/office/drawing/2014/main" xmlns="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Выполнила: </a:t>
                      </a:r>
                      <a:r>
                        <a:rPr lang="ru-RU" baseline="0" dirty="0" smtClean="0"/>
                        <a:t>Трифонова Инна Андреевна</a:t>
                      </a:r>
                      <a:endParaRPr lang="ru-RU" dirty="0" smtClean="0"/>
                    </a:p>
                    <a:p>
                      <a:pPr algn="l"/>
                      <a:r>
                        <a:rPr lang="ru-RU" baseline="0" dirty="0" smtClean="0"/>
                        <a:t>                       Студентка группы ИС-2</a:t>
                      </a:r>
                      <a:r>
                        <a:rPr lang="en-US" baseline="0" dirty="0" smtClean="0"/>
                        <a:t>2</a:t>
                      </a:r>
                      <a:r>
                        <a:rPr lang="ru-RU" baseline="0" dirty="0" smtClean="0"/>
                        <a:t>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Руководитель</a:t>
                      </a:r>
                      <a:r>
                        <a:rPr lang="ru-RU" dirty="0" smtClean="0"/>
                        <a:t>: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err="1" smtClean="0"/>
                        <a:t>Карпушева</a:t>
                      </a:r>
                      <a:r>
                        <a:rPr lang="ru-RU" baseline="0" dirty="0" smtClean="0"/>
                        <a:t> Ирина Александровна преподаватель</a:t>
                      </a:r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2026</a:t>
            </a:r>
            <a:endParaRPr lang="ru-RU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9053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525</TotalTime>
  <Words>485</Words>
  <Application>Microsoft Office PowerPoint</Application>
  <PresentationFormat>Произвольный</PresentationFormat>
  <Paragraphs>70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ВЫПУСКНАЯ КВАЛИФИКАЦИОННАЯ РАБОТА</vt:lpstr>
      <vt:lpstr>Актуальность темы</vt:lpstr>
      <vt:lpstr>Постановка задачи</vt:lpstr>
      <vt:lpstr>Обоснование выбора среды разработки и способа организации входных и выходных данных</vt:lpstr>
      <vt:lpstr>Структура БД – ER-диаграмма</vt:lpstr>
      <vt:lpstr>Программные модули</vt:lpstr>
      <vt:lpstr>Программные модули</vt:lpstr>
      <vt:lpstr>Слайд 8</vt:lpstr>
      <vt:lpstr>Слайд 9</vt:lpstr>
      <vt:lpstr>Слайд 10</vt:lpstr>
      <vt:lpstr>Слайд 11</vt:lpstr>
      <vt:lpstr>ДИПЛОМНЫЙ ПРОЕКТ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student246</cp:lastModifiedBy>
  <cp:revision>55</cp:revision>
  <dcterms:created xsi:type="dcterms:W3CDTF">2022-06-15T10:15:27Z</dcterms:created>
  <dcterms:modified xsi:type="dcterms:W3CDTF">2026-06-16T07:16:09Z</dcterms:modified>
</cp:coreProperties>
</file>